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8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5303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E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Intermédiaire Réglementaire TPE/PME France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#1  •  28 Mars 2026  •  Dow Poncelet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188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26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TPE/PME France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74520" y="4526280"/>
            <a:ext cx="11887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4526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Digital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0" y="4526280"/>
            <a:ext cx="11887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4526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 Passif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651760" y="9144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Opportunité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5303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obligations simultanées — fenêtre critique 2026-2027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55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CONFORMITÉ — Session #1 — 28 Mars 2026 — Confidentiel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55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millions de TPE/PME françaises font face à 4 échéances réglementaires majeures en même temps.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72768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572768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645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Facturation Électronique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" y="1956816"/>
            <a:ext cx="39593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Sept 2026 (réception)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2027 (émission)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PDP agréées DGFiP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entreprises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572768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572768"/>
            <a:ext cx="64008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645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NIS2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91456" y="1956816"/>
            <a:ext cx="39593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vigueur dès maintenant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~50 000 entités concernées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SI obligatoire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Amendes jusqu'à 10M€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08960"/>
            <a:ext cx="6400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1821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RGPD Renforcé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" y="3493008"/>
            <a:ext cx="39593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Nouvelles lignes directrices CNIL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de traitement obligatoire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pour PME sensibles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Sanctions alourdies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310896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108960"/>
            <a:ext cx="64008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1821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ANC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1456" y="3493008"/>
            <a:ext cx="39593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Nouveaux plans comptables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Applicable dès 2025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bilan + liasses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Expert-comptable requis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651760" y="9144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Angles de Revenus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5303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100% intermédiaire — zéro responsabilité conseil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55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CONFORMITÉ — Session #1 — 28 Mars 2026 — Confidentiel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55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" y="1115568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" y="122529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2344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2252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Comparateur PDP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" y="16459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Affiliation + sponsoring sur les 101 plateformes agréées DGFiP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10896" y="2340864"/>
            <a:ext cx="2615184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235000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2 500–5 000€/mois  •  J+45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91256" y="1115568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00984" y="1225296"/>
            <a:ext cx="347472" cy="34747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0984" y="12344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21608" y="12252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Conformité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9272" y="16459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Beehiiv gratuit → affiliation récurrente Axonaut 40% + sponsoring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00984" y="2340864"/>
            <a:ext cx="2615184" cy="347472"/>
          </a:xfrm>
          <a:prstGeom prst="rect">
            <a:avLst/>
          </a:prstGeom>
          <a:solidFill>
            <a:srgbClr val="1A3A5C">
              <a:alpha val="12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235000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3 000–6 000€/mois  •  J+21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81344" y="1115568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91072" y="1225296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2344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11696" y="12252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Annuaire Prestataires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16459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Abonnements 49€/149€/mois — experts-comptables, RSSI, avocats RGPD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91072" y="2340864"/>
            <a:ext cx="2615184" cy="347472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35000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2 000–6 000€/mois  •  J+30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01168" y="2926080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0896" y="3035808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3044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30358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Webinaire Evergreen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9184" y="34564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automatisé Systeme.io — 47€ basique / 97€ premium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10896" y="4151376"/>
            <a:ext cx="2615184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416052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1 000–2 000€/mois  •  J+60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191256" y="2926080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00984" y="303580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0984" y="3044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721608" y="30358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Gumroad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19272" y="34564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Checklists, guides, templates — 67€ lancement / 97€ normal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00984" y="4151376"/>
            <a:ext cx="2615184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00984" y="416052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800–1 500€/mois  •  J+14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81344" y="2926080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91072" y="3035808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044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11696" y="30358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MRR Freemium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09360" y="34564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réglementaires — 9€/mois std / 19€/mois premium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291072" y="4151376"/>
            <a:ext cx="2615184" cy="347472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416052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3 000€/mois maturité  •  J+60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651760" y="9144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Stack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5303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total: ~65-85€/mois — 100% automatisé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55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CONFORMITÉ — Session #1 — 28 Mars 2026 — Confidentiel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55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301752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Couche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Outil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Rôle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Coût/mois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N8N self-hosted (VPS Hetzner)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Automatise tout le système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 / Hub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WordPress + Rank Math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Trafic organique Google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Newsletter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Beehiiv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 + monétisation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0€ (gratuit ≤2500)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Annuaire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Directories Pro (WP)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 abonnement/lead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~8€ amorti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Webinaire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Systeme.io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Replay automatisé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Produits numériques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Gumroad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conformité PDF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0€ + commission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 Contenu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API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Articles, newsletters, fiches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~15-20€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Abonnements &amp; PCI-DSS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65-85€/mois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651760" y="9144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de Marché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5303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Positionnement concurrentiel &amp; opportunité validée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55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CONFORMITÉ — Session #1 — 28 Mars 2026 — Confidentiel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55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115568"/>
            <a:ext cx="2816352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115568"/>
            <a:ext cx="281635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1704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Marché Adressable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572768"/>
            <a:ext cx="263347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 TPE/PME concernées en France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Fenêtre critique: jusqu'à sept. 2026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forcée = pas de prospection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Belgique + Suisse francophone = +20% marché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moyen TPE conformité: 2 000–5 000€/an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72968" y="1115568"/>
            <a:ext cx="2816352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115568"/>
            <a:ext cx="281635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1704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Analyse Concurrentielle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82696" y="1572768"/>
            <a:ext cx="263347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comparateur-efacturation.fr → nouveau, faible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comparateur-facturation-electronique.fr → faible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hub multi-obligations existant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PDPs font leur propre marketing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comparateur objectif indépendant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17336" y="1115568"/>
            <a:ext cx="2816352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17336" y="1115568"/>
            <a:ext cx="2816352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1704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Avantage Compétitif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27064" y="1572768"/>
            <a:ext cx="263347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mover sur niche multi-obligations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longue traîne non adressée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captive via newsletter hebdo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Revenus multi-sources = résilience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IA + validation humaine = volume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651760" y="9144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Financières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5303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Objectif: 12 300–23 500€/mois à M12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55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CONFORMITÉ — Session #1 — 28 Mars 2026 — Confidentiel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55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15568"/>
          <a:ext cx="8778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34440"/>
                <a:gridCol w="1234440"/>
                <a:gridCol w="1234440"/>
                <a:gridCol w="1097280"/>
                <a:gridCol w="1097280"/>
                <a:gridCol w="1005840"/>
                <a:gridCol w="1143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Période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Comparateur PDP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Newsletter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Annuaire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Webinaire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Gumroad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Veille MRR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M1-2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0-100€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100-300€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100-400€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200-500€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300-700€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200-500€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200-400€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1 300-2 800€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800-1 500€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1 000-2 500€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800-2 000€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500-1 000€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500-1 000€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4 100-8 500€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1 500-3 000€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2 000-4 000€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1 500-4 000€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800-1 500€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600-1 200€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7 900-15 200€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2 500-5 000€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3 000-6 000€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2 000-6 000€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1 000-2 000€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800-1 500€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3 000€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12 300-23 500€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82880" y="44074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Axonaut: 40% récurrent — Pennylane: programme partenaire confirmé  ★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651760" y="9144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6 Épiques + Infrastructure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5303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tâches atomiques — 10 semaines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55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CONFORMITÉ — Session #1 — 28 Mars 2026 — Confidentiel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55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115568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115568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07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Légal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207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0" y="1207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tâches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03720" y="1207008"/>
            <a:ext cx="173736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207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BLOQUANT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1636776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636776"/>
            <a:ext cx="7315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7282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1728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Comparateur PDP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17282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S2-5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0" y="17282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tâches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03720" y="1728216"/>
            <a:ext cx="173736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7282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28600" y="2157984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157984"/>
            <a:ext cx="73152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2494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2249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+ Affiliation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22494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S2-4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0" y="2249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tâches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03720" y="2249424"/>
            <a:ext cx="173736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22494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2679192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2679192"/>
            <a:ext cx="73152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7706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" y="2770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Annuaire Prestataires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2770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S4-7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69280" y="2770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tâches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03720" y="2770632"/>
            <a:ext cx="173736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2770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28600" y="3200400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" y="3200400"/>
            <a:ext cx="73152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291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6012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Webinaire Evergreen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0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S5-8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6928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tâches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03720" y="3291840"/>
            <a:ext cx="173736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28600" y="3721608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3721608"/>
            <a:ext cx="73152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8130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60120" y="3813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Gumroad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0" y="3813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S3-5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669280" y="3813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tâches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03720" y="3813048"/>
            <a:ext cx="173736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03720" y="3813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28600" y="4242816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4242816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3342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60120" y="4334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MRR Freemium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572000" y="43342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S6-10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669280" y="4334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tâches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903720" y="4334256"/>
            <a:ext cx="173736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03720" y="43342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651760" y="9144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Conformité Légale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5303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vend de la conformité — on doit l'incarner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55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CONFORMITÉ — Session #1 — 28 Mars 2026 — Confidentiel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55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LÉGALE &amp; OPÉRATIONNELLE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508760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819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Mentions légales + CGU/CGV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03320" y="1563624"/>
            <a:ext cx="164592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5727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REQUIS J1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86400" y="15819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Bloquant avant toute collecte email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1929384"/>
            <a:ext cx="8686800" cy="365760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0025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double opt-in newsletter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03320" y="1984248"/>
            <a:ext cx="164592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9933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CONFORME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86400" y="20025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Beehiiv RGPD-compliant + Axeptio cookie banner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" y="2350008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231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 non-responsabilité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03320" y="2404872"/>
            <a:ext cx="164592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4140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SYSTÉMATIQUE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86400" y="24231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chaque page/article — "informatif uniquement"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28600" y="2770632"/>
            <a:ext cx="8686800" cy="365760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8437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Mentions affiliation ARPP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03320" y="2825496"/>
            <a:ext cx="164592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834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OBLIGATOIRE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486400" y="28437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"#lien-affilié" ou "partenariat rémunéré" visible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28600" y="3191256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2644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Anonymat marque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03320" y="3246120"/>
            <a:ext cx="16459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32552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PRÉVU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486400" y="32644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neutre, aucune identité personnelle exposée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28600" y="3611880"/>
            <a:ext cx="8686800" cy="365760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685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sécurisé (N8N)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03320" y="3666744"/>
            <a:ext cx="16459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36758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SSH/HTTPS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486400" y="36850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clé uniquement, Caddy reverse proxy, fail2ban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4032504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1056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Paiements Stripe PCI-DSS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703320" y="4087368"/>
            <a:ext cx="16459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40965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CERTIFIÉ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486400" y="41056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CB stockée — Stripe gère tout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28600" y="4453128"/>
            <a:ext cx="8686800" cy="365760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526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Contenus IA validés humain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03320" y="4507992"/>
            <a:ext cx="164592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45171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PROCÉDURE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486400" y="45262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par Dow avant publication — processus défini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651760" y="9144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 Immédiates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5303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prioritaire — par où commencer MAINTENANT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55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CONFORMITÉ — Session #1 — 28 Mars 2026 — Confidentiel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55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097280"/>
            <a:ext cx="86868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143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1-2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11430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BLOQUANT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1481328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Acheter domaine nexusconformite.fr (vérifier INPI)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WordPress VPS Hetzner + SSL Caddy + fail2ban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Rédiger et publier mentions légales + CGU + politique confidentialité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comptes: Beehiiv + Gumroad + Systeme.io + Stripe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Google Analytics 4 + Search Console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N8N + workflow sauvegarde auto JSON → Google Drive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" y="2423160"/>
            <a:ext cx="86868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688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2-5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REVENUS RAPIDES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2807208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séquence bienvenue 5 emails (J0/J2/J5/J10/J21)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S'inscrire Axonaut (40% récurrent), Pennylane, Axeptio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Pack Gumroad: checklist + guide NIS2 + template RGPD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opt-in + lead magnet: Calendrier Deadlines 2026-2027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N8N: newsletter hebdo Claude API → Beehiiv API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3749040"/>
            <a:ext cx="868680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794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3-7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CROISSANCE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" y="4133088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Lister 101 PDP agréées + fiches 20 meilleures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Contacter 5 PDPs majeures (Pennylane, Axonaut, Tiime, Sage)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annuaire Directories Pro + Stripe abonnements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Démarcher 20 premiers prestataires (3 mois gratuits early adopters)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Rédiger 5 articles SEO longue traîne par secteur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fenêtre de tir, c'est maintenant.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Septembre 2026 arrive.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Modèle validé — 6 angles complémentaires, zéro responsabilité conseil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Budget démarrage: ~65-85€/mois seulement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Objectif M12: 12 300 – 23 500€/mois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First mover sur niche non adressée en France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Demande forcée = pas de prospection, trafic organique SEO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CONFORMITÉ — Session #1 — 28 Mars 2026 — Dow Poncelet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55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CONFORMITÉ — Session #1 — 28 Mars 2026 — Confidentiel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046720" y="4855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CONFORMITÉ — Session #1</dc:title>
  <dc:subject>PptxGenJS Presentation</dc:subject>
  <dc:creator>Dow Poncelet</dc:creator>
  <cp:lastModifiedBy>Dow Poncelet</cp:lastModifiedBy>
  <cp:revision>1</cp:revision>
  <dcterms:created xsi:type="dcterms:W3CDTF">2026-03-27T23:35:42Z</dcterms:created>
  <dcterms:modified xsi:type="dcterms:W3CDTF">2026-03-27T23:35:42Z</dcterms:modified>
</cp:coreProperties>
</file>